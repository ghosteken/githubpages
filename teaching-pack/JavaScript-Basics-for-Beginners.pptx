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725912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JavaScript Basics for Beginners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657600"/>
            <a:ext cx="1072591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9E79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hands-on introduction, code and see what happens.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332720" y="822960"/>
            <a:ext cx="1280160" cy="1280160"/>
          </a:xfrm>
          <a:prstGeom prst="ellipse">
            <a:avLst/>
          </a:prstGeom>
          <a:solidFill>
            <a:srgbClr val="F96167"/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377440"/>
            <a:ext cx="457200" cy="457200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3" name="Text 1"/>
          <p:cNvSpPr/>
          <p:nvPr/>
        </p:nvSpPr>
        <p:spPr>
          <a:xfrm>
            <a:off x="1371600" y="233172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9E79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GETTING ORIENTED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725912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JavaScript, and what can it do?</a:t>
            </a:r>
            <a:endParaRPr lang="en-US" sz="3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6015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JavaScript?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943600" cy="4846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JavaScript is a programming language that runs inside web browsers (like Chrome or Edge).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It's one of the three core building blocks of every website, alongside HTML and CSS.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JavaScript is what makes a webpage do things — react, calculate, update, and respond.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don't need to install anything special to try it — every browser can already run it.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0" y="1371600"/>
            <a:ext cx="4754880" cy="4846320"/>
          </a:xfrm>
          <a:prstGeom prst="roundRect">
            <a:avLst>
              <a:gd name="adj" fmla="val 2692"/>
            </a:avLst>
          </a:prstGeom>
          <a:solidFill>
            <a:srgbClr val="FCEFE9"/>
          </a:solidFill>
        </p:spPr>
      </p:sp>
      <p:sp>
        <p:nvSpPr>
          <p:cNvPr id="7" name="Text 5"/>
          <p:cNvSpPr/>
          <p:nvPr/>
        </p:nvSpPr>
        <p:spPr>
          <a:xfrm>
            <a:off x="6858000" y="1554480"/>
            <a:ext cx="47548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9616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&lt;/&gt;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223760" y="2926080"/>
            <a:ext cx="4023360" cy="3108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Runs in the browser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installation needed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by almost every website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6015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can JavaScript do?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943600" cy="4846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Change text and images on a page without reloading it.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Respond to clicks, typing, scrolling, and other user actions.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math, make decisions, and repeat tasks automatically.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entire interactive apps, games, and animations in the browser.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0" y="1371600"/>
            <a:ext cx="4754880" cy="4846320"/>
          </a:xfrm>
          <a:prstGeom prst="roundRect">
            <a:avLst>
              <a:gd name="adj" fmla="val 2692"/>
            </a:avLst>
          </a:prstGeom>
          <a:solidFill>
            <a:srgbClr val="FCEFE9"/>
          </a:solidFill>
        </p:spPr>
      </p:sp>
      <p:sp>
        <p:nvSpPr>
          <p:cNvPr id="7" name="Text 5"/>
          <p:cNvSpPr/>
          <p:nvPr/>
        </p:nvSpPr>
        <p:spPr>
          <a:xfrm>
            <a:off x="7223760" y="1371600"/>
            <a:ext cx="4023360" cy="4846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Update page content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React to clicks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Validate a form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Build games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Animate elements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6015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JavaScript vs HTML vs CSS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943600" cy="4846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HTML builds the structure — the skeleton: headings, paragraphs, buttons, images.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CSS styles it — the skin and clothes: colors, fonts, spacing, layout.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JavaScript brings it to life — the muscles and brain: clicks, changes, decisions.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webpage usually needs all three working together.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0" y="1371600"/>
            <a:ext cx="4754880" cy="4846320"/>
          </a:xfrm>
          <a:prstGeom prst="roundRect">
            <a:avLst>
              <a:gd name="adj" fmla="val 2692"/>
            </a:avLst>
          </a:prstGeom>
          <a:solidFill>
            <a:srgbClr val="FCEFE9"/>
          </a:solidFill>
        </p:spPr>
      </p:sp>
      <p:sp>
        <p:nvSpPr>
          <p:cNvPr id="7" name="Text 5"/>
          <p:cNvSpPr/>
          <p:nvPr/>
        </p:nvSpPr>
        <p:spPr>
          <a:xfrm>
            <a:off x="7223760" y="1371600"/>
            <a:ext cx="4023360" cy="4846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HTML = structure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CSS = style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JavaScript = behavior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Think: skeleton → skin → movement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6015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JavaScript Works in a Webpage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943600" cy="4846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browser reads the HTML first, building the page's structure.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then reads the CSS, to know how everything should look.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Finally it runs the JavaScript, which can change anything already on the page.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is why JavaScript can 'find' an HTML element — that element already exists by the time JS runs.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0" y="1371600"/>
            <a:ext cx="4754880" cy="4846320"/>
          </a:xfrm>
          <a:prstGeom prst="roundRect">
            <a:avLst>
              <a:gd name="adj" fmla="val 2692"/>
            </a:avLst>
          </a:prstGeom>
          <a:solidFill>
            <a:srgbClr val="FCEFE9"/>
          </a:solidFill>
        </p:spPr>
      </p:sp>
      <p:sp>
        <p:nvSpPr>
          <p:cNvPr id="7" name="Text 5"/>
          <p:cNvSpPr/>
          <p:nvPr/>
        </p:nvSpPr>
        <p:spPr>
          <a:xfrm>
            <a:off x="7223760" y="1371600"/>
            <a:ext cx="4023360" cy="4846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Browser reads HTML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Browser reads CSS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Browser runs JavaScript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JavaScript can now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change the page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6015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to Add JavaScript to HTML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943600" cy="4846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Option 1: write JavaScript directly inside a &lt;script&gt; tag in the HTML file.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Option 2 (most common): write it in a separate .js file, and link to it with &lt;script src="..."&gt;.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&lt;script&gt; tag is usually placed near the bottom of the HTML file, just before &lt;/body&gt;.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keeps HTML (structure) and JavaScript (behavior) cleanly separated.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0" y="1371600"/>
            <a:ext cx="4754880" cy="4846320"/>
          </a:xfrm>
          <a:prstGeom prst="roundRect">
            <a:avLst>
              <a:gd name="adj" fmla="val 2692"/>
            </a:avLst>
          </a:prstGeom>
          <a:solidFill>
            <a:srgbClr val="FCEFE9"/>
          </a:solidFill>
        </p:spPr>
      </p:sp>
      <p:sp>
        <p:nvSpPr>
          <p:cNvPr id="7" name="Text 5"/>
          <p:cNvSpPr/>
          <p:nvPr/>
        </p:nvSpPr>
        <p:spPr>
          <a:xfrm>
            <a:off x="7223760" y="1371600"/>
            <a:ext cx="4023360" cy="4846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&lt;script&gt;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console.log('Hi!');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&lt;/script&gt;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&lt;script src="script.js"&gt;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&lt;/script&gt;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377440"/>
            <a:ext cx="457200" cy="457200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3" name="Text 1"/>
          <p:cNvSpPr/>
          <p:nvPr/>
        </p:nvSpPr>
        <p:spPr>
          <a:xfrm>
            <a:off x="1371600" y="233172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9E79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BUILDING BLOCKS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725912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Variables, values, and basic data</a:t>
            </a:r>
            <a:endParaRPr lang="en-US" sz="3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6015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Variables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 EXPLANATION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12064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variable is a named box that stores a value so we can use it again later. We create one using the word "let", followed by a name we choose.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512064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Creates a variable called "age", stores the number 15 inside it, then prints whatever is inside "age" to the console.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EXPECTED OUTPUT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1E2233"/>
          </a:solidFill>
        </p:spPr>
      </p:sp>
      <p:sp>
        <p:nvSpPr>
          <p:cNvPr id="11" name="Text 9"/>
          <p:cNvSpPr/>
          <p:nvPr/>
        </p:nvSpPr>
        <p:spPr>
          <a:xfrm>
            <a:off x="685800" y="4709160"/>
            <a:ext cx="484632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E2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15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1234440"/>
            <a:ext cx="5669280" cy="5029200"/>
          </a:xfrm>
          <a:prstGeom prst="roundRect">
            <a:avLst>
              <a:gd name="adj" fmla="val 2182"/>
            </a:avLst>
          </a:prstGeom>
          <a:solidFill>
            <a:srgbClr val="23283B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417320"/>
            <a:ext cx="5212080" cy="4663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let age = 15;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console.log(age);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6015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Strings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 EXPLANATION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12064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string is text. It must always be wrapped in quotation marks so JavaScript knows it's text and not a variable name or a number.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512064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Stores the text "Daniel" in a variable called name, then glues ("concatenates") it onto the end of "Hello " using the + symbol.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EXPECTED OUTPUT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1E2233"/>
          </a:solidFill>
        </p:spPr>
      </p:sp>
      <p:sp>
        <p:nvSpPr>
          <p:cNvPr id="11" name="Text 9"/>
          <p:cNvSpPr/>
          <p:nvPr/>
        </p:nvSpPr>
        <p:spPr>
          <a:xfrm>
            <a:off x="685800" y="4709160"/>
            <a:ext cx="484632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E2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Hello Daniel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1234440"/>
            <a:ext cx="5669280" cy="5029200"/>
          </a:xfrm>
          <a:prstGeom prst="roundRect">
            <a:avLst>
              <a:gd name="adj" fmla="val 2182"/>
            </a:avLst>
          </a:prstGeom>
          <a:solidFill>
            <a:srgbClr val="23283B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417320"/>
            <a:ext cx="5212080" cy="4663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let name = "Daniel";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console.log("Hello " + name);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6015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Numbers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 EXPLANATION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12064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Numbers are written without quotation marks. JavaScript can do normal math with them: add, subtract, multiply, and divide.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512064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Stores two numbers, then prints their sum and their difference, one calculation per line.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EXPECTED OUTPUT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1E2233"/>
          </a:solidFill>
        </p:spPr>
      </p:sp>
      <p:sp>
        <p:nvSpPr>
          <p:cNvPr id="11" name="Text 9"/>
          <p:cNvSpPr/>
          <p:nvPr/>
        </p:nvSpPr>
        <p:spPr>
          <a:xfrm>
            <a:off x="685800" y="4709160"/>
            <a:ext cx="484632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E2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14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BE2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1234440"/>
            <a:ext cx="5669280" cy="5029200"/>
          </a:xfrm>
          <a:prstGeom prst="roundRect">
            <a:avLst>
              <a:gd name="adj" fmla="val 2182"/>
            </a:avLst>
          </a:prstGeom>
          <a:solidFill>
            <a:srgbClr val="23283B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417320"/>
            <a:ext cx="5212080" cy="4663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let a = 10;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let b = 4;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console.log(a + b);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console.log(a - b);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6015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Booleans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 EXPLANATION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12064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boolean is a value that is only ever true or false — like the answer to a yes/no question. Comparisons like &gt; and === produce booleans.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512064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Stores a true/false value directly, then asks JavaScript a question ("is 10 greater than 3?") and prints its true/false answer.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EXPECTED OUTPUT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1E2233"/>
          </a:solidFill>
        </p:spPr>
      </p:sp>
      <p:sp>
        <p:nvSpPr>
          <p:cNvPr id="11" name="Text 9"/>
          <p:cNvSpPr/>
          <p:nvPr/>
        </p:nvSpPr>
        <p:spPr>
          <a:xfrm>
            <a:off x="685800" y="4709160"/>
            <a:ext cx="484632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E2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true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BE2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true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1234440"/>
            <a:ext cx="5669280" cy="5029200"/>
          </a:xfrm>
          <a:prstGeom prst="roundRect">
            <a:avLst>
              <a:gd name="adj" fmla="val 2182"/>
            </a:avLst>
          </a:prstGeom>
          <a:solidFill>
            <a:srgbClr val="23283B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417320"/>
            <a:ext cx="5212080" cy="4663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let isSunny = true;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console.log(isSunny);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console.log(10 &gt; 3);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6015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Basic Operators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 EXPLANATION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12064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Operators are symbols that do work on values: + - * / for math, and === &gt; &lt; &gt;= &lt;= for comparisons that produce true/false.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512064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Adds 2 to score, checks if score is 18 or more, then checks if score is exactly 18.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EXPECTED OUTPUT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1E2233"/>
          </a:solidFill>
        </p:spPr>
      </p:sp>
      <p:sp>
        <p:nvSpPr>
          <p:cNvPr id="11" name="Text 9"/>
          <p:cNvSpPr/>
          <p:nvPr/>
        </p:nvSpPr>
        <p:spPr>
          <a:xfrm>
            <a:off x="685800" y="4709160"/>
            <a:ext cx="484632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E2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BE2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true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BE2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true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1234440"/>
            <a:ext cx="5669280" cy="5029200"/>
          </a:xfrm>
          <a:prstGeom prst="roundRect">
            <a:avLst>
              <a:gd name="adj" fmla="val 2182"/>
            </a:avLst>
          </a:prstGeom>
          <a:solidFill>
            <a:srgbClr val="23283B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417320"/>
            <a:ext cx="5212080" cy="4663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let score = 18;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console.log(score + 2);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console.log(score &gt;= 18);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console.log(score === 18);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377440"/>
            <a:ext cx="457200" cy="457200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3" name="Text 1"/>
          <p:cNvSpPr/>
          <p:nvPr/>
        </p:nvSpPr>
        <p:spPr>
          <a:xfrm>
            <a:off x="1371600" y="233172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9E79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ORGANIZING DATA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725912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Arrays and objects</a:t>
            </a:r>
            <a:endParaRPr lang="en-US" sz="3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6015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Arrays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 EXPLANATION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12064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array is a single variable that holds an ordered list of values, written inside square brackets [ ]. Each item has a position number ("index") starting at 0.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512064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Creates a list of three strings, then prints the item at position 0 (first) and position 1 (second).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EXPECTED OUTPUT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1E2233"/>
          </a:solidFill>
        </p:spPr>
      </p:sp>
      <p:sp>
        <p:nvSpPr>
          <p:cNvPr id="11" name="Text 9"/>
          <p:cNvSpPr/>
          <p:nvPr/>
        </p:nvSpPr>
        <p:spPr>
          <a:xfrm>
            <a:off x="685800" y="4709160"/>
            <a:ext cx="484632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E2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BE2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green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1234440"/>
            <a:ext cx="5669280" cy="5029200"/>
          </a:xfrm>
          <a:prstGeom prst="roundRect">
            <a:avLst>
              <a:gd name="adj" fmla="val 2182"/>
            </a:avLst>
          </a:prstGeom>
          <a:solidFill>
            <a:srgbClr val="23283B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417320"/>
            <a:ext cx="5212080" cy="4663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let colors = ["red", "green", "blue"];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console.log(colors[0]);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console.log(colors[1]);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6015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Objects (Very Basic Introduction)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 EXPLANATION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12064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object stores related information together using labeled properties, written as name: value pairs inside curly braces { }.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512064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Creates one object holding two related pieces of information about a student, then prints just the name property using a dot.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EXPECTED OUTPUT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1E2233"/>
          </a:solidFill>
        </p:spPr>
      </p:sp>
      <p:sp>
        <p:nvSpPr>
          <p:cNvPr id="11" name="Text 9"/>
          <p:cNvSpPr/>
          <p:nvPr/>
        </p:nvSpPr>
        <p:spPr>
          <a:xfrm>
            <a:off x="685800" y="4709160"/>
            <a:ext cx="484632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E2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Amaka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1234440"/>
            <a:ext cx="5669280" cy="5029200"/>
          </a:xfrm>
          <a:prstGeom prst="roundRect">
            <a:avLst>
              <a:gd name="adj" fmla="val 2182"/>
            </a:avLst>
          </a:prstGeom>
          <a:solidFill>
            <a:srgbClr val="23283B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417320"/>
            <a:ext cx="5212080" cy="4663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let student = {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name: "Amaka",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age: 15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console.log(student.name);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377440"/>
            <a:ext cx="457200" cy="457200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3" name="Text 1"/>
          <p:cNvSpPr/>
          <p:nvPr/>
        </p:nvSpPr>
        <p:spPr>
          <a:xfrm>
            <a:off x="1371600" y="233172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9E79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MAKING DECISIONS AND REPEATING WORK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725912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if/else, functions, and loops</a:t>
            </a:r>
            <a:endParaRPr lang="en-US" sz="3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6015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if / else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 EXPLANATION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12064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if/else lets a program choose between two paths, depending on whether a condition is true or false.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512064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Checks if score is 50 or more. If true, runs the first block; if false, runs the else block instead.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EXPECTED OUTPUT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1E2233"/>
          </a:solidFill>
        </p:spPr>
      </p:sp>
      <p:sp>
        <p:nvSpPr>
          <p:cNvPr id="11" name="Text 9"/>
          <p:cNvSpPr/>
          <p:nvPr/>
        </p:nvSpPr>
        <p:spPr>
          <a:xfrm>
            <a:off x="685800" y="4709160"/>
            <a:ext cx="484632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E2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You passed!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1234440"/>
            <a:ext cx="5669280" cy="5029200"/>
          </a:xfrm>
          <a:prstGeom prst="roundRect">
            <a:avLst>
              <a:gd name="adj" fmla="val 2182"/>
            </a:avLst>
          </a:prstGeom>
          <a:solidFill>
            <a:srgbClr val="23283B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417320"/>
            <a:ext cx="5212080" cy="4663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let score = 50;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if (score &gt;= 50) {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console.log("You passed!");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 else {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console.log("Try again!");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6015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Functions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 EXPLANATION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12064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function is a reusable block of code with a name. Writing it doesn't run it — you have to "call" it by name to actually run it.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512064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Defines a function called sayHello, then calls it once, which runs the code inside its curly braces.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EXPECTED OUTPUT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1E2233"/>
          </a:solidFill>
        </p:spPr>
      </p:sp>
      <p:sp>
        <p:nvSpPr>
          <p:cNvPr id="11" name="Text 9"/>
          <p:cNvSpPr/>
          <p:nvPr/>
        </p:nvSpPr>
        <p:spPr>
          <a:xfrm>
            <a:off x="685800" y="4709160"/>
            <a:ext cx="484632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E2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Hello there!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1234440"/>
            <a:ext cx="5669280" cy="5029200"/>
          </a:xfrm>
          <a:prstGeom prst="roundRect">
            <a:avLst>
              <a:gd name="adj" fmla="val 2182"/>
            </a:avLst>
          </a:prstGeom>
          <a:solidFill>
            <a:srgbClr val="23283B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417320"/>
            <a:ext cx="5212080" cy="4663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function sayHello() {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console.log("Hello there!");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sayHello();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6015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Parameters and Arguments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 EXPLANATION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12064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parameter is a placeholder inside a function's parentheses. An argument is the actual value we send in when we call the function.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512064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 is the parameter (an empty box). "Sarah" is the argument we pass in, which fills that box when the function runs.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EXPECTED OUTPUT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1E2233"/>
          </a:solidFill>
        </p:spPr>
      </p:sp>
      <p:sp>
        <p:nvSpPr>
          <p:cNvPr id="11" name="Text 9"/>
          <p:cNvSpPr/>
          <p:nvPr/>
        </p:nvSpPr>
        <p:spPr>
          <a:xfrm>
            <a:off x="685800" y="4709160"/>
            <a:ext cx="484632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E2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Hello Sarah!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1234440"/>
            <a:ext cx="5669280" cy="5029200"/>
          </a:xfrm>
          <a:prstGeom prst="roundRect">
            <a:avLst>
              <a:gd name="adj" fmla="val 2182"/>
            </a:avLst>
          </a:prstGeom>
          <a:solidFill>
            <a:srgbClr val="23283B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417320"/>
            <a:ext cx="5212080" cy="4663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function greet(name) {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console.log("Hello " + name + "!");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greet("Sarah");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6015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Loops (Basic Introduction)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 EXPLANATION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12064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loop repeats a block of code automatically, so we don't have to copy-paste the same line over and over.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512064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Starts a counter i at 0, keeps looping while i is less than 3, and adds 1 to i after each lap.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EXPECTED OUTPUT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1E2233"/>
          </a:solidFill>
        </p:spPr>
      </p:sp>
      <p:sp>
        <p:nvSpPr>
          <p:cNvPr id="11" name="Text 9"/>
          <p:cNvSpPr/>
          <p:nvPr/>
        </p:nvSpPr>
        <p:spPr>
          <a:xfrm>
            <a:off x="685800" y="4709160"/>
            <a:ext cx="484632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E2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Hi number 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BE2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Hi number 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BE2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Hi number 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1234440"/>
            <a:ext cx="5669280" cy="5029200"/>
          </a:xfrm>
          <a:prstGeom prst="roundRect">
            <a:avLst>
              <a:gd name="adj" fmla="val 2182"/>
            </a:avLst>
          </a:prstGeom>
          <a:solidFill>
            <a:srgbClr val="23283B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417320"/>
            <a:ext cx="5212080" cy="4663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for (let i = 0; i &lt; 3; i++) {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console.log("Hi number " + i);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377440"/>
            <a:ext cx="457200" cy="457200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3" name="Text 1"/>
          <p:cNvSpPr/>
          <p:nvPr/>
        </p:nvSpPr>
        <p:spPr>
          <a:xfrm>
            <a:off x="1371600" y="233172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9E79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MAKING PAGES INTERACTIVE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725912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Events, console.log(), and the DOM</a:t>
            </a:r>
            <a:endParaRPr lang="en-US" sz="3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6015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Events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 EXPLANATION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12064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event is something that happens on a page — a click, a key press, a scroll. JavaScript can "listen" for events and react to them.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512064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Finds a button on the page, then tells the browser: "whenever this button is clicked, run this function."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EXPECTED OUTPUT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1E2233"/>
          </a:solidFill>
        </p:spPr>
      </p:sp>
      <p:sp>
        <p:nvSpPr>
          <p:cNvPr id="11" name="Text 9"/>
          <p:cNvSpPr/>
          <p:nvPr/>
        </p:nvSpPr>
        <p:spPr>
          <a:xfrm>
            <a:off x="685800" y="4709160"/>
            <a:ext cx="484632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E2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Button was clicked!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BE2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(printed only after clicking the button)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1234440"/>
            <a:ext cx="5669280" cy="5029200"/>
          </a:xfrm>
          <a:prstGeom prst="roundRect">
            <a:avLst>
              <a:gd name="adj" fmla="val 2182"/>
            </a:avLst>
          </a:prstGeom>
          <a:solidFill>
            <a:srgbClr val="23283B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417320"/>
            <a:ext cx="5212080" cy="4663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let button = document.querySelector("button");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button.addEventListener("click", function () {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console.log("Button was clicked!");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});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6015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console.log()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 EXPLANATION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12064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console.log() prints a message to the browser's developer console — a tool just for us developers, not something visitors ever see.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512064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Prints three different things: a string, the result of a calculation, and a boolean — console.log works on ANY type of value.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EXPECTED OUTPUT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1E2233"/>
          </a:solidFill>
        </p:spPr>
      </p:sp>
      <p:sp>
        <p:nvSpPr>
          <p:cNvPr id="11" name="Text 9"/>
          <p:cNvSpPr/>
          <p:nvPr/>
        </p:nvSpPr>
        <p:spPr>
          <a:xfrm>
            <a:off x="685800" y="4709160"/>
            <a:ext cx="484632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E2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Debugging is like being a detective.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BE2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BE2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true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1234440"/>
            <a:ext cx="5669280" cy="5029200"/>
          </a:xfrm>
          <a:prstGeom prst="roundRect">
            <a:avLst>
              <a:gd name="adj" fmla="val 2182"/>
            </a:avLst>
          </a:prstGeom>
          <a:solidFill>
            <a:srgbClr val="23283B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417320"/>
            <a:ext cx="5212080" cy="4663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console.log("Debugging is like being a detective.");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console.log(5 + 5);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console.log(true);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6015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Basic DOM Manipulation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 EXPLANATION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12064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DOM is the browser's live map of every element on the page. JavaScript can find an element in that map and change it.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512064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Finds the HTML element whose id is "title", then replaces whatever text is inside it with "Hello!".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EXPECTED OUTPUT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1E2233"/>
          </a:solidFill>
        </p:spPr>
      </p:sp>
      <p:sp>
        <p:nvSpPr>
          <p:cNvPr id="11" name="Text 9"/>
          <p:cNvSpPr/>
          <p:nvPr/>
        </p:nvSpPr>
        <p:spPr>
          <a:xfrm>
            <a:off x="685800" y="4709160"/>
            <a:ext cx="484632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E2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The heading on the page instantly changes to say "Hello!"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1234440"/>
            <a:ext cx="5669280" cy="5029200"/>
          </a:xfrm>
          <a:prstGeom prst="roundRect">
            <a:avLst>
              <a:gd name="adj" fmla="val 2182"/>
            </a:avLst>
          </a:prstGeom>
          <a:solidFill>
            <a:srgbClr val="23283B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417320"/>
            <a:ext cx="5212080" cy="4663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document.getElementById("title").textContent = "Hello!";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6015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Introduction to Interactive Webpages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943600" cy="4846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HTML creates the elements. CSS styles them. JavaScript makes them respond to us.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"Interactive" means the page changes because of something the user did — not automatically.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button click, menu toggle, or dark-mode switch you've ever used follows this same pattern: find an element, listen for an event, then change something.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Next: we'll see all of this working together on a real, live website.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0" y="1371600"/>
            <a:ext cx="4754880" cy="4846320"/>
          </a:xfrm>
          <a:prstGeom prst="roundRect">
            <a:avLst>
              <a:gd name="adj" fmla="val 2692"/>
            </a:avLst>
          </a:prstGeom>
          <a:solidFill>
            <a:srgbClr val="FCEFE9"/>
          </a:solidFill>
        </p:spPr>
      </p:sp>
      <p:sp>
        <p:nvSpPr>
          <p:cNvPr id="7" name="Text 5"/>
          <p:cNvSpPr/>
          <p:nvPr/>
        </p:nvSpPr>
        <p:spPr>
          <a:xfrm>
            <a:off x="7223760" y="1371600"/>
            <a:ext cx="4023360" cy="4846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 the element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Listen for an event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Change something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 reacts instantly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377440"/>
            <a:ext cx="457200" cy="457200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3" name="Text 1"/>
          <p:cNvSpPr/>
          <p:nvPr/>
        </p:nvSpPr>
        <p:spPr>
          <a:xfrm>
            <a:off x="1371600" y="233172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9E79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YOUR TOOLS WISELY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725912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 and coding</a:t>
            </a:r>
            <a:endParaRPr lang="en-US" sz="3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6015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Are AI Coding Tools?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943600" cy="4846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Tools like ChatGPT, GitHub Copilot, and Claude can write, explain, and fix code when you ask them to.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They're trained on huge amounts of code written by real people — they predict likely code, they don't truly "understand" it the way you do.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They can be genuinely helpful: explaining an error message, suggesting a starting point, or checking your logic.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But they can also be wrong, confidently — they'll happily hand you broken code without warning you.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0" y="1371600"/>
            <a:ext cx="4754880" cy="4846320"/>
          </a:xfrm>
          <a:prstGeom prst="roundRect">
            <a:avLst>
              <a:gd name="adj" fmla="val 2692"/>
            </a:avLst>
          </a:prstGeom>
          <a:solidFill>
            <a:srgbClr val="FCEFE9"/>
          </a:solidFill>
        </p:spPr>
      </p:sp>
      <p:sp>
        <p:nvSpPr>
          <p:cNvPr id="7" name="Text 5"/>
          <p:cNvSpPr/>
          <p:nvPr/>
        </p:nvSpPr>
        <p:spPr>
          <a:xfrm>
            <a:off x="7223760" y="1371600"/>
            <a:ext cx="4023360" cy="4846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Explain errors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Suggest a starting point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Check your logic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Guaranteed correct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A substitute for learning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6015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Using AI the Right Way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943600" cy="4846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it to LEARN, not to skip learning — ask it to explain code, not just hand you an answer you don't understand.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Never paste code you don't understand into your project. If you can't explain what a line does, don't use it yet.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Always run and test AI-suggested code yourself — never assume it works just because it looks right.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schoolwork, follow your teacher's and school's rules about AI use — when in doubt, ask first.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0" y="1371600"/>
            <a:ext cx="4754880" cy="4846320"/>
          </a:xfrm>
          <a:prstGeom prst="roundRect">
            <a:avLst>
              <a:gd name="adj" fmla="val 2692"/>
            </a:avLst>
          </a:prstGeom>
          <a:solidFill>
            <a:srgbClr val="FCEFE9"/>
          </a:solidFill>
        </p:spPr>
      </p:sp>
      <p:sp>
        <p:nvSpPr>
          <p:cNvPr id="7" name="Text 5"/>
          <p:cNvSpPr/>
          <p:nvPr/>
        </p:nvSpPr>
        <p:spPr>
          <a:xfrm>
            <a:off x="7223760" y="1371600"/>
            <a:ext cx="4023360" cy="4846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Good question: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"Can you explain what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line does?"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Risky question: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"Just write my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whole project for me."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6015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8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 Makes Mistakes Too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 EXPLANATION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12064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tools can write code that looks confident and correct, but still contains a real bug. This is exactly the kind of mistake we practiced spotting earlier today.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512064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AI tool suggested this to check for a perfect score. But it uses = (assigns 100) instead of === (compares to 100), so the condition is always true.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EXPECTED OUTPUT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1E2233"/>
          </a:solidFill>
        </p:spPr>
      </p:sp>
      <p:sp>
        <p:nvSpPr>
          <p:cNvPr id="11" name="Text 9"/>
          <p:cNvSpPr/>
          <p:nvPr/>
        </p:nvSpPr>
        <p:spPr>
          <a:xfrm>
            <a:off x="685800" y="4709160"/>
            <a:ext cx="484632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E2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Perfect score!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BE2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(WRONG — score was really 80!)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1234440"/>
            <a:ext cx="5669280" cy="5029200"/>
          </a:xfrm>
          <a:prstGeom prst="roundRect">
            <a:avLst>
              <a:gd name="adj" fmla="val 2182"/>
            </a:avLst>
          </a:prstGeom>
          <a:solidFill>
            <a:srgbClr val="23283B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417320"/>
            <a:ext cx="5212080" cy="4663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let score = 80;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if (score = 100) {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console.log("Perfect score!");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 else {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console.log("Keep practicing!");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377440"/>
            <a:ext cx="457200" cy="457200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3" name="Text 1"/>
          <p:cNvSpPr/>
          <p:nvPr/>
        </p:nvSpPr>
        <p:spPr>
          <a:xfrm>
            <a:off x="1371600" y="233172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9E79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 UP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725912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Let's see it all on a real website</a:t>
            </a:r>
            <a:endParaRPr lang="en-US" sz="3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10076</Words>
  <Application>WPS Presentation</Application>
  <PresentationFormat>On-screen Show (16:9)</PresentationFormat>
  <Paragraphs>485</Paragraphs>
  <Slides>31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6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Courier New</vt:lpstr>
      <vt:lpstr>Courier New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aigbe</cp:lastModifiedBy>
  <cp:revision>2</cp:revision>
  <dcterms:created xsi:type="dcterms:W3CDTF">2026-08-23T18:03:00Z</dcterms:created>
  <dcterms:modified xsi:type="dcterms:W3CDTF">2026-08-24T08:52:27Z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8F07B107DB6840B3906B95956CA7940A_12</vt:lpwstr>
  </property>
  <property fmtid="{D5CDD505-2E9C-101B-9397-08002B2CF9AE}" pid="3" name="KSOProductBuildVer">
    <vt:lpwstr>1033-12.1.0.28032</vt:lpwstr>
  </property>
</Properties>
</file>